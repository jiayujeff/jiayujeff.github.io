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9" r:id="rId3"/>
    <p:sldId id="260" r:id="rId4"/>
    <p:sldId id="261" r:id="rId5"/>
    <p:sldId id="257" r:id="rId6"/>
    <p:sldId id="25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800" spc="41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79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47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66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859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4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287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22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2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4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090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36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spc="1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spc="1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796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none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18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18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18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18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18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511.02734" TargetMode="External"/><Relationship Id="rId13" Type="http://schemas.openxmlformats.org/officeDocument/2006/relationships/image" Target="../media/image12.png"/><Relationship Id="rId3" Type="http://schemas.openxmlformats.org/officeDocument/2006/relationships/hyperlink" Target="https://aclanthology.org/2025.acl-short.18/" TargetMode="External"/><Relationship Id="rId7" Type="http://schemas.openxmlformats.org/officeDocument/2006/relationships/hyperlink" Target="https://arxiv.org/abs/2506.17114v4" TargetMode="External"/><Relationship Id="rId12" Type="http://schemas.openxmlformats.org/officeDocument/2006/relationships/image" Target="../media/image11.png"/><Relationship Id="rId2" Type="http://schemas.openxmlformats.org/officeDocument/2006/relationships/hyperlink" Target="https://jiayujeff.github.io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507.20187v2" TargetMode="External"/><Relationship Id="rId11" Type="http://schemas.openxmlformats.org/officeDocument/2006/relationships/image" Target="../media/image10.png"/><Relationship Id="rId5" Type="http://schemas.openxmlformats.org/officeDocument/2006/relationships/hyperlink" Target="https://arxiv.org/abs/2508.08992" TargetMode="External"/><Relationship Id="rId10" Type="http://schemas.openxmlformats.org/officeDocument/2006/relationships/image" Target="../media/image9.png"/><Relationship Id="rId4" Type="http://schemas.openxmlformats.org/officeDocument/2006/relationships/hyperlink" Target="https://www.arxiv.org/abs/2601.11004" TargetMode="External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C4868D5-FBD1-3470-DC8D-D72E02C37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 altLang="zh-CN" dirty="0"/>
              <a:t>About me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85109E1-97E0-4903-896C-42ECF715C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785543"/>
            <a:ext cx="4857857" cy="1005657"/>
          </a:xfrm>
        </p:spPr>
        <p:txBody>
          <a:bodyPr>
            <a:normAutofit/>
          </a:bodyPr>
          <a:lstStyle/>
          <a:p>
            <a:r>
              <a:rPr lang="en-US" altLang="zh-CN" dirty="0"/>
              <a:t>Jiayu Liu</a:t>
            </a:r>
            <a:endParaRPr lang="zh-CN" alt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图表, 散点图&#10;&#10;AI 生成的内容可能不正确。">
            <a:extLst>
              <a:ext uri="{FF2B5EF4-FFF2-40B4-BE49-F238E27FC236}">
                <a16:creationId xmlns:a16="http://schemas.microsoft.com/office/drawing/2014/main" id="{F7143CB2-203A-7B49-E3CC-27F8E6D462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17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6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B6956-EE37-1644-691B-0B766EA9F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CCD207C-8151-78E2-47F8-53B11013245D}"/>
              </a:ext>
            </a:extLst>
          </p:cNvPr>
          <p:cNvSpPr txBox="1"/>
          <p:nvPr/>
        </p:nvSpPr>
        <p:spPr>
          <a:xfrm>
            <a:off x="812800" y="151884"/>
            <a:ext cx="78341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/>
              <a:t>Research:</a:t>
            </a:r>
            <a:r>
              <a:rPr lang="zh-CN" altLang="en-US" sz="3000" dirty="0"/>
              <a:t> </a:t>
            </a:r>
            <a:r>
              <a:rPr lang="en-US" altLang="zh-CN" sz="3000" dirty="0" err="1"/>
              <a:t>Truthworthiness</a:t>
            </a:r>
            <a:r>
              <a:rPr lang="en-US" altLang="zh-CN" sz="3000" dirty="0"/>
              <a:t>-related</a:t>
            </a:r>
            <a:endParaRPr lang="zh-CN" altLang="en-US" sz="3000" dirty="0"/>
          </a:p>
        </p:txBody>
      </p:sp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07EFE1CD-73B9-0C65-23DD-0812ACBA2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544" y="1641852"/>
            <a:ext cx="4198546" cy="3494744"/>
          </a:xfrm>
          <a:prstGeom prst="rect">
            <a:avLst/>
          </a:prstGeom>
        </p:spPr>
      </p:pic>
      <p:pic>
        <p:nvPicPr>
          <p:cNvPr id="17" name="图片 16" descr="图示&#10;&#10;AI 生成的内容可能不正确。">
            <a:extLst>
              <a:ext uri="{FF2B5EF4-FFF2-40B4-BE49-F238E27FC236}">
                <a16:creationId xmlns:a16="http://schemas.microsoft.com/office/drawing/2014/main" id="{5C8C328D-8FAB-6FA3-B459-7169EA75B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883" y="1641852"/>
            <a:ext cx="2842883" cy="4093752"/>
          </a:xfrm>
          <a:prstGeom prst="rect">
            <a:avLst/>
          </a:prstGeom>
        </p:spPr>
      </p:pic>
      <p:pic>
        <p:nvPicPr>
          <p:cNvPr id="26" name="图片 25" descr="图形用户界面, 图示&#10;&#10;AI 生成的内容可能不正确。">
            <a:extLst>
              <a:ext uri="{FF2B5EF4-FFF2-40B4-BE49-F238E27FC236}">
                <a16:creationId xmlns:a16="http://schemas.microsoft.com/office/drawing/2014/main" id="{C5FB8E87-831D-1B5A-4123-341AE7346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72" y="1641852"/>
            <a:ext cx="3774493" cy="3669646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FFBC4454-054D-5DBF-1670-67A7C16790A3}"/>
              </a:ext>
            </a:extLst>
          </p:cNvPr>
          <p:cNvSpPr txBox="1"/>
          <p:nvPr/>
        </p:nvSpPr>
        <p:spPr>
          <a:xfrm>
            <a:off x="471011" y="1105125"/>
            <a:ext cx="36410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Revisiting Epistemic Markers in Confidence Estimation: Can Markers Accurately Reflect Large Language Models' Uncertainty?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24FE849-415E-8F18-8F72-3F003A05A134}"/>
              </a:ext>
            </a:extLst>
          </p:cNvPr>
          <p:cNvSpPr txBox="1"/>
          <p:nvPr/>
        </p:nvSpPr>
        <p:spPr>
          <a:xfrm>
            <a:off x="4221724" y="1116740"/>
            <a:ext cx="3362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altLang="zh-CN" sz="1000" dirty="0">
                <a:solidFill>
                  <a:srgbClr val="000000"/>
                </a:solidFill>
              </a:rPr>
              <a:t>Prospect Theory Fails for LLMs: Revealing Instability of Decision-Making under Epistemic Uncertainty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E8CEA51-1EDC-378D-0FCA-F2D0ADF37559}"/>
              </a:ext>
            </a:extLst>
          </p:cNvPr>
          <p:cNvSpPr txBox="1"/>
          <p:nvPr/>
        </p:nvSpPr>
        <p:spPr>
          <a:xfrm>
            <a:off x="7694154" y="1116740"/>
            <a:ext cx="36872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zh-CN" sz="1000" i="0" dirty="0">
                <a:solidFill>
                  <a:srgbClr val="000000"/>
                </a:solidFill>
                <a:effectLst/>
                <a:latin typeface="+mj-lt"/>
              </a:rPr>
              <a:t>NAACL: Noise-</a:t>
            </a:r>
            <a:r>
              <a:rPr lang="en-US" altLang="zh-CN" sz="1000" i="0" dirty="0" err="1">
                <a:solidFill>
                  <a:srgbClr val="000000"/>
                </a:solidFill>
                <a:effectLst/>
                <a:latin typeface="+mj-lt"/>
              </a:rPr>
              <a:t>AwAre</a:t>
            </a:r>
            <a:r>
              <a:rPr lang="en-US" altLang="zh-CN" sz="1000" i="0" dirty="0">
                <a:solidFill>
                  <a:srgbClr val="000000"/>
                </a:solidFill>
                <a:effectLst/>
                <a:latin typeface="+mj-lt"/>
              </a:rPr>
              <a:t> Verbal Confidence Calibration for LLMs in RAG Systems</a:t>
            </a:r>
            <a:endParaRPr lang="zh-CN" altLang="en-US" sz="1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265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C5BC-B2B0-55B3-E6F1-F9051845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83ABCD2-C662-6DFD-95A5-2FB688FACB42}"/>
              </a:ext>
            </a:extLst>
          </p:cNvPr>
          <p:cNvSpPr txBox="1"/>
          <p:nvPr/>
        </p:nvSpPr>
        <p:spPr>
          <a:xfrm>
            <a:off x="812800" y="15188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/>
              <a:t>Research: Reasoning-related</a:t>
            </a:r>
            <a:endParaRPr lang="zh-CN" altLang="en-US" sz="3000" dirty="0"/>
          </a:p>
        </p:txBody>
      </p:sp>
      <p:pic>
        <p:nvPicPr>
          <p:cNvPr id="4" name="图片 3" descr="图形用户界面, 文本&#10;&#10;AI 生成的内容可能不正确。">
            <a:extLst>
              <a:ext uri="{FF2B5EF4-FFF2-40B4-BE49-F238E27FC236}">
                <a16:creationId xmlns:a16="http://schemas.microsoft.com/office/drawing/2014/main" id="{96D8C4E6-F5A8-F7E6-3A7C-E70D2D2D7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17" y="1920688"/>
            <a:ext cx="6711783" cy="3123854"/>
          </a:xfrm>
          <a:prstGeom prst="rect">
            <a:avLst/>
          </a:prstGeom>
        </p:spPr>
      </p:pic>
      <p:pic>
        <p:nvPicPr>
          <p:cNvPr id="6" name="图片 5" descr="图形用户界面, 文本, 应用程序, 聊天或短信&#10;&#10;AI 生成的内容可能不正确。">
            <a:extLst>
              <a:ext uri="{FF2B5EF4-FFF2-40B4-BE49-F238E27FC236}">
                <a16:creationId xmlns:a16="http://schemas.microsoft.com/office/drawing/2014/main" id="{4AFCA9A6-5AFF-8908-4ECB-9D473FC2E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310" y="1816361"/>
            <a:ext cx="4358746" cy="337837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7ED3854-5334-CB4A-4526-48C40578BD14}"/>
              </a:ext>
            </a:extLst>
          </p:cNvPr>
          <p:cNvSpPr txBox="1"/>
          <p:nvPr/>
        </p:nvSpPr>
        <p:spPr>
          <a:xfrm>
            <a:off x="7100268" y="1263159"/>
            <a:ext cx="43587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Mathematical Proof as a Litmus Test: Revealing Failure Modes of Advanced Large Reasoning Models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8A45B0-A73B-D8AB-BF2F-5F4269B4D744}"/>
              </a:ext>
            </a:extLst>
          </p:cNvPr>
          <p:cNvSpPr txBox="1"/>
          <p:nvPr/>
        </p:nvSpPr>
        <p:spPr>
          <a:xfrm>
            <a:off x="1538831" y="1263159"/>
            <a:ext cx="609702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Diversity-Enhanced Reasoning for Subjective Questions</a:t>
            </a:r>
          </a:p>
        </p:txBody>
      </p:sp>
    </p:spTree>
    <p:extLst>
      <p:ext uri="{BB962C8B-B14F-4D97-AF65-F5344CB8AC3E}">
        <p14:creationId xmlns:p14="http://schemas.microsoft.com/office/powerpoint/2010/main" val="1566604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4C2D5-3385-C974-CE1A-8850C27EC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8030A90-F0F2-6C7C-7186-92C53E29E321}"/>
              </a:ext>
            </a:extLst>
          </p:cNvPr>
          <p:cNvSpPr txBox="1"/>
          <p:nvPr/>
        </p:nvSpPr>
        <p:spPr>
          <a:xfrm>
            <a:off x="812800" y="15188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000" dirty="0"/>
              <a:t>Research: Agent-related</a:t>
            </a:r>
            <a:endParaRPr lang="zh-CN" altLang="en-US" sz="3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F60E6D-8B0D-4C80-5BF9-62A48F351F64}"/>
              </a:ext>
            </a:extLst>
          </p:cNvPr>
          <p:cNvSpPr txBox="1"/>
          <p:nvPr/>
        </p:nvSpPr>
        <p:spPr>
          <a:xfrm>
            <a:off x="3860800" y="1056243"/>
            <a:ext cx="38602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altLang="zh-CN" sz="1000" i="0" dirty="0" err="1">
                <a:solidFill>
                  <a:srgbClr val="000000"/>
                </a:solidFill>
                <a:effectLst/>
                <a:latin typeface="Lucida Grande"/>
              </a:rPr>
              <a:t>CostBench</a:t>
            </a:r>
            <a:r>
              <a:rPr lang="en-US" altLang="zh-CN" sz="1000" i="0" dirty="0">
                <a:solidFill>
                  <a:srgbClr val="000000"/>
                </a:solidFill>
                <a:effectLst/>
                <a:latin typeface="Lucida Grande"/>
              </a:rPr>
              <a:t>: Evaluating Multi-Turn Cost-Optimal Planning and Adaptation in Dynamic Environments for LLM Tool-Use Agents</a:t>
            </a:r>
          </a:p>
        </p:txBody>
      </p:sp>
      <p:pic>
        <p:nvPicPr>
          <p:cNvPr id="9" name="图片 8" descr="图形用户界面&#10;&#10;AI 生成的内容可能不正确。">
            <a:extLst>
              <a:ext uri="{FF2B5EF4-FFF2-40B4-BE49-F238E27FC236}">
                <a16:creationId xmlns:a16="http://schemas.microsoft.com/office/drawing/2014/main" id="{135880F2-4E1A-1B73-1799-162AFFFD2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186" y="1548147"/>
            <a:ext cx="9037627" cy="394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84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2C5324-AAFA-75B7-34E0-D3BD0B5C148B}"/>
              </a:ext>
            </a:extLst>
          </p:cNvPr>
          <p:cNvSpPr txBox="1"/>
          <p:nvPr/>
        </p:nvSpPr>
        <p:spPr>
          <a:xfrm>
            <a:off x="767114" y="92054"/>
            <a:ext cx="54250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/>
              <a:t>Research </a:t>
            </a:r>
            <a:r>
              <a:rPr lang="en-US" altLang="zh-CN" sz="1000" dirty="0"/>
              <a:t>(</a:t>
            </a:r>
            <a:r>
              <a:rPr lang="en-US" altLang="zh-CN" sz="1000" dirty="0">
                <a:solidFill>
                  <a:srgbClr val="3333C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 Personal Website</a:t>
            </a:r>
            <a:r>
              <a:rPr lang="en-US" altLang="zh-CN" sz="1000" dirty="0"/>
              <a:t>!)</a:t>
            </a:r>
            <a:endParaRPr lang="zh-CN" altLang="en-US" sz="1000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1AAE01A0-BDFB-453A-260B-46FBE46A18DD}"/>
              </a:ext>
            </a:extLst>
          </p:cNvPr>
          <p:cNvCxnSpPr>
            <a:cxnSpLocks/>
          </p:cNvCxnSpPr>
          <p:nvPr/>
        </p:nvCxnSpPr>
        <p:spPr>
          <a:xfrm>
            <a:off x="1309208" y="1366584"/>
            <a:ext cx="968404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3F513B7-F020-E5BA-5ADB-116E3823DD39}"/>
              </a:ext>
            </a:extLst>
          </p:cNvPr>
          <p:cNvSpPr txBox="1"/>
          <p:nvPr/>
        </p:nvSpPr>
        <p:spPr>
          <a:xfrm>
            <a:off x="3935806" y="923051"/>
            <a:ext cx="4754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Foundation: Reliability/Robustness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F63D26-82D1-F3B4-F63D-520AB43F511E}"/>
              </a:ext>
            </a:extLst>
          </p:cNvPr>
          <p:cNvSpPr txBox="1"/>
          <p:nvPr/>
        </p:nvSpPr>
        <p:spPr>
          <a:xfrm>
            <a:off x="1309208" y="1587512"/>
            <a:ext cx="46374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Static QA tasks -&gt;Out-of-distribution robustness/generalizability:</a:t>
            </a:r>
          </a:p>
          <a:p>
            <a:endParaRPr lang="en-US" altLang="zh-CN" dirty="0"/>
          </a:p>
          <a:p>
            <a:pPr marL="342900" indent="-342900">
              <a:buFontTx/>
              <a:buAutoNum type="arabicPeriod"/>
            </a:pPr>
            <a:r>
              <a:rPr lang="en-US" altLang="zh-CN" dirty="0"/>
              <a:t>Confidence calibration (via Epistemic Markers [</a:t>
            </a:r>
            <a:r>
              <a:rPr lang="en-US" altLang="zh-CN" dirty="0">
                <a:solidFill>
                  <a:srgbClr val="3333CC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ACL 2025</a:t>
            </a:r>
            <a:r>
              <a:rPr lang="en-US" altLang="zh-CN" dirty="0"/>
              <a:t>], in RAG scenarios [</a:t>
            </a:r>
            <a:r>
              <a:rPr lang="en-US" altLang="zh-CN" dirty="0" err="1">
                <a:solidFill>
                  <a:srgbClr val="3333C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r>
              <a:rPr lang="en-US" altLang="zh-CN" dirty="0"/>
              <a:t>], in decision framework under uncertainty [</a:t>
            </a:r>
            <a:r>
              <a:rPr lang="en-US" altLang="zh-CN" dirty="0" err="1">
                <a:solidFill>
                  <a:srgbClr val="3333C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r>
              <a:rPr lang="en-US" altLang="zh-CN" dirty="0"/>
              <a:t>])</a:t>
            </a:r>
          </a:p>
          <a:p>
            <a:pPr marL="342900" indent="-342900">
              <a:buAutoNum type="arabicPeriod"/>
            </a:pPr>
            <a:r>
              <a:rPr lang="en-US" altLang="zh-CN" dirty="0"/>
              <a:t>Reasoning tasks (diversity-enhanced subjective reasoning [</a:t>
            </a:r>
            <a:r>
              <a:rPr lang="en-US" altLang="zh-CN" dirty="0">
                <a:solidFill>
                  <a:srgbClr val="3333CC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ICLR 2026</a:t>
            </a:r>
            <a:r>
              <a:rPr lang="en-US" altLang="zh-CN" dirty="0"/>
              <a:t>], math reasoning [</a:t>
            </a:r>
            <a:r>
              <a:rPr lang="en-US" altLang="zh-CN" dirty="0" err="1">
                <a:solidFill>
                  <a:srgbClr val="3333CC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r>
              <a:rPr lang="en-US" altLang="zh-CN" dirty="0"/>
              <a:t>])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66CCA73-62A6-AA46-21FA-B56B7EA98DB2}"/>
              </a:ext>
            </a:extLst>
          </p:cNvPr>
          <p:cNvSpPr txBox="1"/>
          <p:nvPr/>
        </p:nvSpPr>
        <p:spPr>
          <a:xfrm>
            <a:off x="6151232" y="1587512"/>
            <a:ext cx="48420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Dynamic Agentic tasks -&gt;robustness under complex/changeable environments:</a:t>
            </a:r>
          </a:p>
          <a:p>
            <a:endParaRPr lang="en-US" altLang="zh-CN" dirty="0"/>
          </a:p>
          <a:p>
            <a:pPr marL="342900" indent="-342900">
              <a:buAutoNum type="arabicPeriod"/>
            </a:pPr>
            <a:r>
              <a:rPr lang="en-US" altLang="zh-CN" dirty="0"/>
              <a:t>Cost awareness in tool use [</a:t>
            </a:r>
            <a:r>
              <a:rPr lang="en-US" altLang="zh-CN" dirty="0" err="1">
                <a:solidFill>
                  <a:srgbClr val="3333CC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r>
              <a:rPr lang="en-US" altLang="zh-CN" dirty="0"/>
              <a:t>] (mentored by Cheng and Prof. May Fung)</a:t>
            </a:r>
          </a:p>
          <a:p>
            <a:pPr marL="342900" indent="-342900">
              <a:buAutoNum type="arabicPeriod"/>
            </a:pPr>
            <a:r>
              <a:rPr lang="en-US" altLang="zh-CN" dirty="0"/>
              <a:t>And more! Eager and Excited to learn from everyone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30ED771-3E2A-BA05-5980-EB8D8641A064}"/>
              </a:ext>
            </a:extLst>
          </p:cNvPr>
          <p:cNvCxnSpPr/>
          <p:nvPr/>
        </p:nvCxnSpPr>
        <p:spPr>
          <a:xfrm flipV="1">
            <a:off x="4031953" y="369053"/>
            <a:ext cx="797798" cy="103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9A22A41-D0ED-AB24-0BCE-5A05A1ACC0BD}"/>
              </a:ext>
            </a:extLst>
          </p:cNvPr>
          <p:cNvSpPr txBox="1"/>
          <p:nvPr/>
        </p:nvSpPr>
        <p:spPr>
          <a:xfrm>
            <a:off x="767114" y="6186008"/>
            <a:ext cx="37742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Note: Listed are my first/co-first author works.</a:t>
            </a:r>
            <a:endParaRPr lang="zh-CN" altLang="en-US" sz="1000" dirty="0"/>
          </a:p>
        </p:txBody>
      </p:sp>
      <p:pic>
        <p:nvPicPr>
          <p:cNvPr id="21" name="图片 20" descr="QR 代码&#10;&#10;AI 生成的内容可能不正确。">
            <a:extLst>
              <a:ext uri="{FF2B5EF4-FFF2-40B4-BE49-F238E27FC236}">
                <a16:creationId xmlns:a16="http://schemas.microsoft.com/office/drawing/2014/main" id="{0E7FDE15-ACED-BFD6-DEEF-7A47D5A15F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286" y="164547"/>
            <a:ext cx="409011" cy="409011"/>
          </a:xfrm>
          <a:prstGeom prst="rect">
            <a:avLst/>
          </a:prstGeom>
        </p:spPr>
      </p:pic>
      <p:pic>
        <p:nvPicPr>
          <p:cNvPr id="25" name="图片 24" descr="图标&#10;&#10;AI 生成的内容可能不正确。">
            <a:extLst>
              <a:ext uri="{FF2B5EF4-FFF2-40B4-BE49-F238E27FC236}">
                <a16:creationId xmlns:a16="http://schemas.microsoft.com/office/drawing/2014/main" id="{55E18907-8FCF-C871-5A90-E094CC9EFC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9261" y="3533909"/>
            <a:ext cx="300493" cy="306695"/>
          </a:xfrm>
          <a:prstGeom prst="rect">
            <a:avLst/>
          </a:prstGeom>
        </p:spPr>
      </p:pic>
      <p:pic>
        <p:nvPicPr>
          <p:cNvPr id="27" name="图片 26" descr="图标&#10;&#10;AI 生成的内容可能不正确。">
            <a:extLst>
              <a:ext uri="{FF2B5EF4-FFF2-40B4-BE49-F238E27FC236}">
                <a16:creationId xmlns:a16="http://schemas.microsoft.com/office/drawing/2014/main" id="{44708F59-C75B-14C9-E345-17A16CB82C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3578092" y="886533"/>
            <a:ext cx="409765" cy="405850"/>
          </a:xfrm>
          <a:prstGeom prst="rect">
            <a:avLst/>
          </a:prstGeom>
        </p:spPr>
      </p:pic>
      <p:pic>
        <p:nvPicPr>
          <p:cNvPr id="29" name="图片 28" descr="卡通人物&#10;&#10;AI 生成的内容可能不正确。">
            <a:extLst>
              <a:ext uri="{FF2B5EF4-FFF2-40B4-BE49-F238E27FC236}">
                <a16:creationId xmlns:a16="http://schemas.microsoft.com/office/drawing/2014/main" id="{B77E8582-56B1-AC91-2C10-C1BE86990B5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24868" y="4608146"/>
            <a:ext cx="409765" cy="438071"/>
          </a:xfrm>
          <a:prstGeom prst="rect">
            <a:avLst/>
          </a:prstGeom>
        </p:spPr>
      </p:pic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8E99E8F5-F903-DC9D-06F9-DCA92D1D5511}"/>
              </a:ext>
            </a:extLst>
          </p:cNvPr>
          <p:cNvCxnSpPr>
            <a:cxnSpLocks/>
          </p:cNvCxnSpPr>
          <p:nvPr/>
        </p:nvCxnSpPr>
        <p:spPr>
          <a:xfrm>
            <a:off x="1350121" y="5152036"/>
            <a:ext cx="9684048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07912709-0FA8-2FD0-7F8C-A6DD811B4D13}"/>
              </a:ext>
            </a:extLst>
          </p:cNvPr>
          <p:cNvSpPr txBox="1"/>
          <p:nvPr/>
        </p:nvSpPr>
        <p:spPr>
          <a:xfrm>
            <a:off x="1348075" y="5336702"/>
            <a:ext cx="496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Also love/open to any exciting topics!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159D9EE-0936-BFFC-09FE-96ED9659A2D4}"/>
              </a:ext>
            </a:extLst>
          </p:cNvPr>
          <p:cNvSpPr txBox="1"/>
          <p:nvPr/>
        </p:nvSpPr>
        <p:spPr>
          <a:xfrm>
            <a:off x="4934078" y="4676885"/>
            <a:ext cx="381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Future works</a:t>
            </a:r>
            <a:endParaRPr lang="zh-CN" altLang="en-US" dirty="0"/>
          </a:p>
        </p:txBody>
      </p:sp>
      <p:pic>
        <p:nvPicPr>
          <p:cNvPr id="33" name="图片 32" descr="QR 代码&#10;&#10;AI 生成的内容可能不正确。">
            <a:extLst>
              <a:ext uri="{FF2B5EF4-FFF2-40B4-BE49-F238E27FC236}">
                <a16:creationId xmlns:a16="http://schemas.microsoft.com/office/drawing/2014/main" id="{32E145F4-F303-B158-879D-3DEE804D089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535" y="6223571"/>
            <a:ext cx="369332" cy="369332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7789DC33-D3CA-F225-BA7D-E68F8586098F}"/>
              </a:ext>
            </a:extLst>
          </p:cNvPr>
          <p:cNvSpPr txBox="1"/>
          <p:nvPr/>
        </p:nvSpPr>
        <p:spPr>
          <a:xfrm>
            <a:off x="9977241" y="6592902"/>
            <a:ext cx="12006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X (twitter)</a:t>
            </a:r>
            <a:endParaRPr lang="zh-CN" altLang="en-US" sz="800" dirty="0"/>
          </a:p>
        </p:txBody>
      </p:sp>
      <p:pic>
        <p:nvPicPr>
          <p:cNvPr id="36" name="图片 35" descr="QR 代码&#10;&#10;AI 生成的内容可能不正确。">
            <a:extLst>
              <a:ext uri="{FF2B5EF4-FFF2-40B4-BE49-F238E27FC236}">
                <a16:creationId xmlns:a16="http://schemas.microsoft.com/office/drawing/2014/main" id="{FDFA082F-3025-531F-D45D-7D39C44732E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8589" y="6223569"/>
            <a:ext cx="369333" cy="36933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52CE89F6-C0B7-B820-CF87-6A6CE9A06C8F}"/>
              </a:ext>
            </a:extLst>
          </p:cNvPr>
          <p:cNvSpPr txBox="1"/>
          <p:nvPr/>
        </p:nvSpPr>
        <p:spPr>
          <a:xfrm>
            <a:off x="10711121" y="6592902"/>
            <a:ext cx="609702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dirty="0" err="1"/>
              <a:t>Linkedin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33237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D813-FD52-C55A-45FA-4F1B63D7A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A6E1DAC-3A49-7B28-D9ED-A4A9227B9C0C}"/>
              </a:ext>
            </a:extLst>
          </p:cNvPr>
          <p:cNvSpPr txBox="1"/>
          <p:nvPr/>
        </p:nvSpPr>
        <p:spPr>
          <a:xfrm>
            <a:off x="4349750" y="3075057"/>
            <a:ext cx="571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Thank you!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07767804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219</Words>
  <Application>Microsoft Office PowerPoint</Application>
  <PresentationFormat>宽屏</PresentationFormat>
  <Paragraphs>27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Lucida Grande</vt:lpstr>
      <vt:lpstr>Microsoft YaHei</vt:lpstr>
      <vt:lpstr>Arial</vt:lpstr>
      <vt:lpstr>ChronicleVTI</vt:lpstr>
      <vt:lpstr>About 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 Jiayu</dc:creator>
  <cp:lastModifiedBy>LIU Jiayu</cp:lastModifiedBy>
  <cp:revision>66</cp:revision>
  <dcterms:created xsi:type="dcterms:W3CDTF">2026-02-04T06:31:41Z</dcterms:created>
  <dcterms:modified xsi:type="dcterms:W3CDTF">2026-02-04T18:03:55Z</dcterms:modified>
</cp:coreProperties>
</file>